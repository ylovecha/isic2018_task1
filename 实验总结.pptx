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62" r:id="rId4"/>
    <p:sldId id="257" r:id="rId5"/>
    <p:sldId id="258" r:id="rId6"/>
    <p:sldId id="265" r:id="rId7"/>
    <p:sldId id="259" r:id="rId8"/>
    <p:sldId id="260" r:id="rId9"/>
    <p:sldId id="266" r:id="rId10"/>
    <p:sldId id="268" r:id="rId11"/>
    <p:sldId id="261" r:id="rId1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91310"/>
            <a:ext cx="12192000" cy="1630045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ISIC2018 皮肤病变分割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-635" y="3567430"/>
            <a:ext cx="12192000" cy="608965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基于 U-Net / ResNet34-UNet 的深度学习语义分割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35400" y="4811395"/>
            <a:ext cx="4519295" cy="1260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人工智能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物联网导论 课程大作业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小组成员：</a:t>
            </a: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韩越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田晔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分工与参考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Team Contributions &amp; References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502650" cy="407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👥 小组成员分工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韩越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U-Net 模型架构设计与实现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• 训练流程代码编写与 GPU 优化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0">
              <a:spcAft>
                <a:spcPts val="600"/>
              </a:spcAft>
              <a:buFont typeface="Arial" panose="020B0604020202020204" pitchFamily="34" charset="0"/>
              <a:buNone/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• 实验报告撰写与结果分析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田晔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• 数据集预处理与数据增强方案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• 超参数调优实验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• PPT 制作与可视化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任务与数据集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Task Overview &amp; Dataset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1240" y="2219325"/>
            <a:ext cx="5506085" cy="39281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🎯 任务目标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ISIC2018 Task 1: 皮肤病变边界分割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对皮肤镜图像进行像素级病变区域分割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辅助皮肤科医生快速定位和评估病变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📊 数据集来源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International Skin Imaging Collaboration (ISIC)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训练集: 2,594 张  |  验证集: 100 张  |  测试集: 1,000 张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每张图像配有二值分割标签 (Ground Truth)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744335" y="1844040"/>
            <a:ext cx="5029200" cy="30010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🔧 数据预处理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图像统一缩放至 256×256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ImageNet 均值/标准差归一化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📈 数据增强 (仅训练集)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随机水平/垂直翻转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随机旋转 (±20°)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颜色抖动 (亮度/对比度 ±0.2)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711950" y="4845050"/>
          <a:ext cx="5061585" cy="176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7195"/>
                <a:gridCol w="1687195"/>
                <a:gridCol w="1687195"/>
              </a:tblGrid>
              <a:tr h="4267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/>
                        <a:t>mode</a:t>
                      </a:r>
                      <a:endParaRPr lang="en-US" altLang="zh-CN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b="1"/>
                        <a:t>图像变换</a:t>
                      </a:r>
                      <a:endParaRPr lang="zh-CN" altLang="en-US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/>
                        <a:t>mask </a:t>
                      </a:r>
                      <a:r>
                        <a:rPr lang="zh-CN" altLang="en-US" b="1"/>
                        <a:t>变换</a:t>
                      </a:r>
                      <a:endParaRPr lang="zh-CN" altLang="en-US" b="1"/>
                    </a:p>
                  </a:txBody>
                  <a:tcPr anchor="ctr" anchorCtr="0"/>
                </a:tc>
              </a:tr>
              <a:tr h="9144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train</a:t>
                      </a:r>
                      <a:endParaRPr lang="en-US" altLang="zh-CN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Resize + </a:t>
                      </a:r>
                      <a:r>
                        <a:rPr lang="zh-CN" altLang="en-US" b="1"/>
                        <a:t>翻转</a:t>
                      </a:r>
                      <a:r>
                        <a:rPr lang="en-US" altLang="zh-CN" b="1"/>
                        <a:t> + </a:t>
                      </a:r>
                      <a:r>
                        <a:rPr lang="zh-CN" altLang="en-US" b="1"/>
                        <a:t>旋转</a:t>
                      </a:r>
                      <a:r>
                        <a:rPr lang="en-US" altLang="zh-CN" b="1"/>
                        <a:t> + </a:t>
                      </a:r>
                      <a:r>
                        <a:rPr lang="zh-CN" altLang="en-US" b="1"/>
                        <a:t>颜色抖动</a:t>
                      </a:r>
                      <a:r>
                        <a:rPr lang="en-US" altLang="zh-CN" b="1"/>
                        <a:t> + </a:t>
                      </a:r>
                      <a:r>
                        <a:rPr lang="zh-CN" altLang="en-US" b="1"/>
                        <a:t>归一化</a:t>
                      </a:r>
                      <a:endParaRPr lang="zh-CN" altLang="en-US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/>
                        <a:t>同样的几何变换（不含颜色抖动）</a:t>
                      </a:r>
                      <a:endParaRPr lang="zh-CN" altLang="en-US" b="1"/>
                    </a:p>
                  </a:txBody>
                  <a:tcPr anchor="ctr" anchorCtr="0"/>
                </a:tc>
              </a:tr>
              <a:tr h="4267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val / test</a:t>
                      </a:r>
                      <a:endParaRPr lang="en-US" altLang="zh-CN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Resize + </a:t>
                      </a:r>
                      <a:r>
                        <a:rPr lang="zh-CN" altLang="en-US" b="1"/>
                        <a:t>归一化</a:t>
                      </a:r>
                      <a:endParaRPr lang="zh-CN" altLang="en-US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/>
                        <a:t>仅</a:t>
                      </a:r>
                      <a:r>
                        <a:rPr lang="en-US" altLang="zh-CN" b="1"/>
                        <a:t> Resize</a:t>
                      </a:r>
                      <a:endParaRPr lang="en-US" altLang="zh-CN" b="1"/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模型架构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U-Net Architecture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3210" y="1828800"/>
            <a:ext cx="6379210" cy="4215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🏗️ U-Net 结构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经典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形结构，手写实现，不依赖预训练权重。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编码器 (Encoder)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Conv(3→64) → Conv(64→128) → Conv(128→256) → Conv(512)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每层: DoubleConv (Conv-BN-ReLU)×2 + MaxPool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瓶颈层 (Bottleneck)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Conv(512→1024)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解码器 (Decoder)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ConvTranspose + Skip Connection + DoubleConv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(1024→512→256→128→64)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13575" y="2005965"/>
            <a:ext cx="4374515" cy="389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📐 模型参数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总参数量: 31,037,633 (~31M)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输入: 3 × 256 × 256 (RGB图像)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输出: 1 × 256 × 256 (分割概率图)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🔑 关键设计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跳跃连接 (Skip Connections)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保留浅层细节信息，缓解下采样信息丢失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对称编码器-解码器结构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端到端训练，无需预训练权重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模型架构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U-Net Architecture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</a:rPr>
              <a:t>+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</a:rPr>
              <a:t>ResNet34 </a:t>
            </a:r>
            <a:r>
              <a:rPr>
                <a:latin typeface="微软雅黑" panose="020B0503020204020204" charset="-122"/>
                <a:ea typeface="微软雅黑" panose="020B0503020204020204" charset="-122"/>
                <a:sym typeface="+mn-ea"/>
              </a:rPr>
              <a:t>Architecture</a:t>
            </a:r>
            <a:endParaRPr lang="en-US" alt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3210" y="1828800"/>
            <a:ext cx="6379210" cy="3491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🏗️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在基础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U-Net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上的改进：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编码器换成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ImageNet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预训练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ResNet34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，解码器仍是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U-Net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风格。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编码器 (Encoder)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ResNet34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拆出各层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瓶颈层 (Bottleneck)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Conv(512→1024)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解码器 (Decoder)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上采样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skip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拼接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双卷积。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31875" y="5882640"/>
            <a:ext cx="10127615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特殊处理：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第一层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stride=2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，最终只到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128</a:t>
            </a:r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128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，所以加了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final_up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再放大到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256</a:t>
            </a:r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256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表格 5"/>
          <p:cNvGraphicFramePr/>
          <p:nvPr>
            <p:custDataLst>
              <p:tags r:id="rId1"/>
            </p:custDataLst>
          </p:nvPr>
        </p:nvGraphicFramePr>
        <p:xfrm>
          <a:off x="6537325" y="2183130"/>
          <a:ext cx="5373370" cy="3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165"/>
                <a:gridCol w="2597150"/>
                <a:gridCol w="821055"/>
              </a:tblGrid>
              <a:tr h="7518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>
                          <a:latin typeface="微软雅黑" panose="020B0503020204020204" charset="-122"/>
                          <a:ea typeface="微软雅黑" panose="020B0503020204020204" charset="-122"/>
                        </a:rPr>
                        <a:t>层</a:t>
                      </a:r>
                      <a:endParaRPr lang="zh-CN" altLang="en-US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输出尺寸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(256 </a:t>
                      </a:r>
                      <a:r>
                        <a:rPr lang="zh-CN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输入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)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>
                          <a:latin typeface="微软雅黑" panose="020B0503020204020204" charset="-122"/>
                          <a:ea typeface="微软雅黑" panose="020B0503020204020204" charset="-122"/>
                        </a:rPr>
                        <a:t>通道</a:t>
                      </a:r>
                      <a:endParaRPr lang="zh-CN" altLang="en-US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92265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enc0 (conv1+bn+relu)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128</a:t>
                      </a:r>
                      <a:r>
                        <a:rPr lang="en-US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128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64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43053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pool0 + layer1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64</a:t>
                      </a:r>
                      <a:r>
                        <a:rPr lang="en-US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64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64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4292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layer2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32</a:t>
                      </a:r>
                      <a:r>
                        <a:rPr lang="en-US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32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128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4292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layer3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</a:t>
                      </a:r>
                      <a:r>
                        <a:rPr lang="en-US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256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42989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layer4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</a:t>
                      </a:r>
                      <a:r>
                        <a:rPr lang="en-US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512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训练配置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Training Configuration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922780"/>
            <a:ext cx="5592445" cy="42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⚙️ 超参数设置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优化器: Adam (lr=1e-4, weight_decay=1e-4)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损失函数: Dice Loss + BCE Loss (组合)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Batch Size: 8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Epochs: 50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输入尺寸: 256×256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📉 学习率调度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ReduceLROnPlateau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patience=5, factor=0.5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初始 1e-4 → 最低 6e-6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5029200" cy="4615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💻 训练环境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/>
          <a:p>
            <a:r>
              <a:t>• GPU 训练 + AMP 混合精度加速</a:t>
            </a:r>
          </a:p>
          <a:p>
            <a:r>
              <a:t>• 框架: PyTorch + CUDA</a:t>
            </a:r>
          </a:p>
          <a:p>
            <a:r>
              <a:t>• 训练时间: 约 3.1～3.2 小时 / 模型 (50 epochs)</a:t>
            </a:r>
          </a:p>
          <a:p/>
          <a:p>
            <a:r>
              <a:t>📊 训练数据</a:t>
            </a:r>
          </a:p>
          <a:p>
            <a:r>
              <a:t>• 训练样本: 2,594 张</a:t>
            </a:r>
          </a:p>
          <a:p>
            <a:r>
              <a:t>• 验证样本: 100 张（官方验证集）</a:t>
            </a:r>
          </a:p>
          <a:p>
            <a:r>
              <a:t>• 测试样本: 1,000 张</a:t>
            </a:r>
          </a:p>
          <a:p/>
          <a:p>
            <a:r>
              <a:t>🛡️ 正则化</a:t>
            </a:r>
          </a:p>
          <a:p>
            <a:r>
              <a:t>• L2 权重衰减 (1e-4)</a:t>
            </a:r>
          </a:p>
          <a:p>
            <a:r>
              <a:t>• 数据增强 (翻转/旋转/颜色抖动)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实验结果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基础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</a:rPr>
              <a:t> U-Net</a:t>
            </a:r>
            <a:endParaRPr lang="en-US" alt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Experimental Results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28600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0.8757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Dice Coefficient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28600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0.7994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IoU Score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228600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0.9304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Pixel Accuracy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961120" y="1828800"/>
            <a:ext cx="228600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0.8859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Best Val Dice (Ep.44)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515600" cy="2491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📈 训练过程指标变化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/>
          <a:p>
            <a:r>
              <a:t>  训练初期 (Epoch 1-10):  Loss 快速下降, Val Dice 从 0.77 提升至 0.87+</a:t>
            </a:r>
          </a:p>
          <a:p>
            <a:r>
              <a:t>  训练中期 (Epoch 11-44): Loss 稳定下降, Val Dice 提升至最高 0.8859 (Epoch 44)</a:t>
            </a:r>
          </a:p>
          <a:p>
            <a:r>
              <a:t>  训练后期 (Epoch 45-50): Val Dice 在 0.87-0.88 波动, 学习率降至 6e-6, 模型收敛</a:t>
            </a:r>
          </a:p>
          <a:p/>
          <a:p>
            <a:r>
              <a:t>✅ 测试集 Dice (0.8757) 与最佳验证 Dice (0.8859) 差距约 0.01, 泛化能力良好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实验结果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模型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优化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对比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Experimental Results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1307465" y="1787525"/>
          <a:ext cx="9885680" cy="4449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420"/>
                <a:gridCol w="2471420"/>
                <a:gridCol w="2471420"/>
                <a:gridCol w="2471420"/>
              </a:tblGrid>
              <a:tr h="635635">
                <a:tc>
                  <a:txBody>
                    <a:bodyPr/>
                    <a:p>
                      <a:r>
                        <a:t>指标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基础 U-Net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ResNet34-UNet (优化)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提升</a:t>
                      </a: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r>
                        <a:t>验证集最佳 Dice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0.8859 (Ep.44)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0.9041 (Ep.36)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+2.05%</a:t>
                      </a: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r>
                        <a:t>测试集 Dice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0.8757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0.8903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+1.67%</a:t>
                      </a: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r>
                        <a:t>测试集 IoU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0.7994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0.8171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+2.21%</a:t>
                      </a: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r>
                        <a:t>测试集 Pixel Accuracy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0.9304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0.9385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+0.87%</a:t>
                      </a: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r>
                        <a:t>模型参数量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31.0M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29.2M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-5.8%</a:t>
                      </a: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r>
                        <a:t>训练时间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~3.2h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~3.1h</a:t>
                      </a: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r>
                        <a:t>相近 (AMP)</a:t>
                      </a:r>
                    </a:p>
                  </a:txBody>
                  <a:tcPr marL="82867" marR="82867" marT="38417" marB="38417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训练曲线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lang="en-US" altLang="zh-CN">
                <a:latin typeface="微软雅黑" panose="020B0503020204020204" charset="-122"/>
                <a:ea typeface="微软雅黑" panose="020B0503020204020204" charset="-122"/>
              </a:rPr>
              <a:t>ResNet34-UNet Training Curves</a:t>
            </a:r>
            <a:endParaRPr lang="en-US" alt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" name="Picture 3" descr="Los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185" y="2265680"/>
            <a:ext cx="4936490" cy="2810510"/>
          </a:xfrm>
          <a:prstGeom prst="rect">
            <a:avLst/>
          </a:prstGeom>
        </p:spPr>
      </p:pic>
      <p:pic>
        <p:nvPicPr>
          <p:cNvPr id="5" name="Picture 4" descr="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8885" y="2257425"/>
            <a:ext cx="4936490" cy="281051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153795" y="5879465"/>
            <a:ext cx="757301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defRPr sz="1200"/>
            </a:pPr>
            <a:r>
              <a:rPr>
                <a:sym typeface="+mn-ea"/>
              </a:rPr>
              <a:t>ResNet34-UNet：Epoch 1 Val Dice=0.8352，Epoch 36 最佳 Val Dice=0.9041，测试集 Dice=0.8903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分析与结论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Analysis &amp; Conclusion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303520" cy="4215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💡 关键发现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/>
          <a:p>
            <a:r>
              <a:t>1. 组合损失函数优势</a:t>
            </a:r>
          </a:p>
          <a:p>
            <a:r>
              <a:t>   Dice+BCE 比单独 BCE 更适合类别不平衡的分割任务</a:t>
            </a:r>
          </a:p>
          <a:p/>
          <a:p>
            <a:r>
              <a:t>2. 预训练编码器效果显著</a:t>
            </a:r>
          </a:p>
          <a:p>
            <a:r>
              <a:t>   ResNet34-UNet 第 1 epoch Val Dice 即达 0.8352，接近 U-Net 训满 50 轮水平</a:t>
            </a:r>
          </a:p>
          <a:p/>
          <a:p>
            <a:r>
              <a:t>3. 数据增强效果显著</a:t>
            </a:r>
          </a:p>
          <a:p>
            <a:r>
              <a:t>   翻转/旋转/颜色抖动提升模型泛化能力</a:t>
            </a:r>
          </a:p>
          <a:p/>
          <a:p>
            <a:r>
              <a:t>4. AMP 混合精度加速</a:t>
            </a:r>
          </a:p>
          <a:p>
            <a:r>
              <a:t>   在 GPU 上显著缩短训练时间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4846320" cy="4215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⚠️ 待改进方向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/>
          <a:p>
            <a:r>
              <a:t>• 引入注意力机制 (Attention U-Net)</a:t>
            </a:r>
          </a:p>
          <a:p>
            <a:r>
              <a:t>• 尝试更深或更轻量 backbone</a:t>
            </a:r>
          </a:p>
          <a:p>
            <a:r>
              <a:t>• 模型剪枝/量化适配边缘部署</a:t>
            </a:r>
          </a:p>
          <a:p>
            <a:r>
              <a:t>• TTA 测试时增强进一步提升精度</a:t>
            </a:r>
          </a:p>
          <a:p/>
          <a:p>
            <a:r>
              <a:t>🎯 结论</a:t>
            </a:r>
          </a:p>
          <a:p>
            <a:r>
              <a:t>U-Net 测试集 Dice=0.8757，ResNet34-UNet 提升至 0.8903。</a:t>
            </a:r>
          </a:p>
          <a:p>
            <a:r>
              <a:t>两模型验证集与测试集 Dice 差距约 1.0%～1.4%，泛化能力良好，</a:t>
            </a:r>
          </a:p>
          <a:p>
            <a:r>
              <a:t>为 AIoT 场景下的皮肤病辅助诊断提供了可行的技术方案。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398*123"/>
  <p:tag name="TABLE_ENDDRAG_RECT" val="417*211*398*123"/>
</p:tagLst>
</file>

<file path=ppt/tags/tag2.xml><?xml version="1.0" encoding="utf-8"?>
<p:tagLst xmlns:p="http://schemas.openxmlformats.org/presentationml/2006/main">
  <p:tag name="TABLE_ENDDRAG_ORIGIN_RECT" val="423*283"/>
  <p:tag name="TABLE_ENDDRAG_RECT" val="491*171*423*283"/>
</p:tagLst>
</file>

<file path=ppt/tags/tag3.xml><?xml version="1.0" encoding="utf-8"?>
<p:tagLst xmlns:p="http://schemas.openxmlformats.org/presentationml/2006/main">
  <p:tag name="TABLE_ENDDRAG_ORIGIN_RECT" val="778*350"/>
  <p:tag name="TABLE_ENDDRAG_RECT" val="144*165*778*35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3018</Words>
  <Application>WPS 演示</Application>
  <PresentationFormat>On-screen Show (4:3)</PresentationFormat>
  <Paragraphs>302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田晔</cp:lastModifiedBy>
  <cp:revision>5</cp:revision>
  <dcterms:created xsi:type="dcterms:W3CDTF">2013-01-27T09:14:00Z</dcterms:created>
  <dcterms:modified xsi:type="dcterms:W3CDTF">2026-06-25T09:28:02Z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30CAA33391D24032964D04C989090989_12</vt:lpwstr>
  </property>
  <property fmtid="{D5CDD505-2E9C-101B-9397-08002B2CF9AE}" pid="3" name="KSOProductBuildVer">
    <vt:lpwstr>2052-12.1.0.23542</vt:lpwstr>
  </property>
</Properties>
</file>